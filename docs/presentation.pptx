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FinRisk AI: Unified NLP Risk Engine &amp; Portfolio Stress-Testing Platform</a:t>
            </a:r>
          </a:p>
          <a:p>
            <a:pPr>
              <a:defRPr sz="1500">
                <a:solidFill>
                  <a:srgbClr val="2563EB"/>
                </a:solidFill>
              </a:defRPr>
            </a:pPr>
            <a:r>
              <a:t>S&amp;P Global &amp; CRISIL Campus Hackathon 2026 | Candidate: Harshita Singla | Indira Gandhi Delhi Technical University for Women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600"/>
              </a:spcAft>
              <a:defRPr sz="1700">
                <a:solidFill>
                  <a:srgbClr val="334155"/>
                </a:solidFill>
              </a:defRPr>
            </a:pPr>
            <a:r>
              <a:t>• Track: AI/NLP Risk Engine with Strategic Portfolio Stress Testing (Module B)</a:t>
            </a:r>
          </a:p>
          <a:p>
            <a:pPr>
              <a:spcAft>
                <a:spcPts val="1600"/>
              </a:spcAft>
              <a:defRPr sz="1700">
                <a:solidFill>
                  <a:srgbClr val="334155"/>
                </a:solidFill>
              </a:defRPr>
            </a:pPr>
            <a:r>
              <a:t>• Transforms unstructured market feeds into quantitative credit risk and regulatory capital triggers.</a:t>
            </a:r>
          </a:p>
          <a:p>
            <a:pPr>
              <a:spcAft>
                <a:spcPts val="1600"/>
              </a:spcAft>
              <a:defRPr sz="1700">
                <a:solidFill>
                  <a:srgbClr val="334155"/>
                </a:solidFill>
              </a:defRPr>
            </a:pPr>
            <a:r>
              <a:t>• Combines Hugging Face FinBERT domain sentiment with Basel III Expected Credit Loss (ECL) mechanics.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Problem Statement &amp; The Latency Gap in Risk Monitoring</a:t>
            </a:r>
          </a:p>
          <a:p>
            <a:pPr>
              <a:defRPr sz="1500">
                <a:solidFill>
                  <a:srgbClr val="2563EB"/>
                </a:solidFill>
              </a:defRPr>
            </a:pPr>
            <a:r>
              <a:t>Why Traditional Credit Reviews Lag Behind Real-World Market Distress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600"/>
              </a:spcAft>
              <a:defRPr sz="1700">
                <a:solidFill>
                  <a:srgbClr val="334155"/>
                </a:solidFill>
              </a:defRPr>
            </a:pPr>
            <a:r>
              <a:t>• Unstructured Data Lag: Critical credit events appear in breaking news and social feeds 48-72 hours before rating agency adjustments.</a:t>
            </a:r>
          </a:p>
          <a:p>
            <a:pPr>
              <a:spcAft>
                <a:spcPts val="1600"/>
              </a:spcAft>
              <a:defRPr sz="1700">
                <a:solidFill>
                  <a:srgbClr val="334155"/>
                </a:solidFill>
              </a:defRPr>
            </a:pPr>
            <a:r>
              <a:t>• Information Asymmetry: Banks manage large wholesale portfolios without real-time linkage between qualitative news and portfolio capital adequacy.</a:t>
            </a:r>
          </a:p>
          <a:p>
            <a:pPr>
              <a:spcAft>
                <a:spcPts val="1600"/>
              </a:spcAft>
              <a:defRPr sz="1700">
                <a:solidFill>
                  <a:srgbClr val="334155"/>
                </a:solidFill>
              </a:defRPr>
            </a:pPr>
            <a:r>
              <a:t>• Our Solution: An automated, sub-second NLP Risk Engine mapping directly to wholesale asset repricing and capital adequacy (CRAR) buffers.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System Architecture &amp; High-Performance Data Flow</a:t>
            </a:r>
          </a:p>
          <a:p>
            <a:pPr>
              <a:defRPr sz="1500">
                <a:solidFill>
                  <a:srgbClr val="2563EB"/>
                </a:solidFill>
              </a:defRPr>
            </a:pPr>
            <a:r>
              <a:t>End-to-End Pipeline: Ingestion -&gt; NLP Engine -&gt; Structured JSON -&gt; Portfolio Stress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600"/>
              </a:spcAft>
              <a:defRPr sz="1700">
                <a:solidFill>
                  <a:srgbClr val="334155"/>
                </a:solidFill>
              </a:defRPr>
            </a:pPr>
            <a:r>
              <a:t>• Data Ingestion: Dual-channel streaming ingesting financial news and micro-blog feeds into a normalized schema.</a:t>
            </a:r>
          </a:p>
          <a:p>
            <a:pPr>
              <a:spcAft>
                <a:spcPts val="1600"/>
              </a:spcAft>
              <a:defRPr sz="1700">
                <a:solidFill>
                  <a:srgbClr val="334155"/>
                </a:solidFill>
              </a:defRPr>
            </a:pPr>
            <a:r>
              <a:t>• Risk NLP Engine: FinBERT sentiment scoring (S in [-1, 1]), zero-shot event taxonomy classification, and explainable impact scoring.</a:t>
            </a:r>
          </a:p>
          <a:p>
            <a:pPr>
              <a:spcAft>
                <a:spcPts val="1600"/>
              </a:spcAft>
              <a:defRPr sz="1700">
                <a:solidFill>
                  <a:srgbClr val="334155"/>
                </a:solidFill>
              </a:defRPr>
            </a:pPr>
            <a:r>
              <a:t>• Stress-Testing Engine: Automated shock propagation executing Basel III ECL on loans and Modified Duration repricing on debt.</a:t>
            </a:r>
          </a:p>
          <a:p>
            <a:pPr>
              <a:spcAft>
                <a:spcPts val="1600"/>
              </a:spcAft>
              <a:defRPr sz="1700">
                <a:solidFill>
                  <a:srgbClr val="334155"/>
                </a:solidFill>
              </a:defRPr>
            </a:pPr>
            <a:r>
              <a:t>• Consumption Layer: Interactive Streamlit analytics dashboard and production-grade FastAPI REST endpoints.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AI/NLP Methodology &amp; Impact Scoring Mechanics</a:t>
            </a:r>
          </a:p>
          <a:p>
            <a:pPr>
              <a:defRPr sz="1500">
                <a:solidFill>
                  <a:srgbClr val="2563EB"/>
                </a:solidFill>
              </a:defRPr>
            </a:pPr>
            <a:r>
              <a:t>Explainable Quantitative Scoring Replacing Black-Box Heuristics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600"/>
              </a:spcAft>
              <a:defRPr sz="1700">
                <a:solidFill>
                  <a:srgbClr val="334155"/>
                </a:solidFill>
              </a:defRPr>
            </a:pPr>
            <a:r>
              <a:t>• Sentiment Analysis: FinBERT model outputs calibrated score S = P(pos) - P(neg), delivering domain-accurate scores (e.g. -0.954).</a:t>
            </a:r>
          </a:p>
          <a:p>
            <a:pPr>
              <a:spcAft>
                <a:spcPts val="1600"/>
              </a:spcAft>
              <a:defRPr sz="1700">
                <a:solidFill>
                  <a:srgbClr val="334155"/>
                </a:solidFill>
              </a:defRPr>
            </a:pPr>
            <a:r>
              <a:t>• Event Categorization: Predefined taxonomy spanning Credit Events, Macroeconomic rate shifts, Geopolitical sanctions, and Earnings.</a:t>
            </a:r>
          </a:p>
          <a:p>
            <a:pPr>
              <a:spcAft>
                <a:spcPts val="1600"/>
              </a:spcAft>
              <a:defRPr sz="1700">
                <a:solidFill>
                  <a:srgbClr val="334155"/>
                </a:solidFill>
              </a:defRPr>
            </a:pPr>
            <a:r>
              <a:t>• Explainable Impact Score (1-10): I = Clip[1,10](0.50 * BaseSeverity + 0.30 * (|S| * 10) + 0.20 * SourceWeight).</a:t>
            </a:r>
          </a:p>
          <a:p>
            <a:pPr>
              <a:spcAft>
                <a:spcPts val="1600"/>
              </a:spcAft>
              <a:defRPr sz="1700">
                <a:solidFill>
                  <a:srgbClr val="334155"/>
                </a:solidFill>
              </a:defRPr>
            </a:pPr>
            <a:r>
              <a:t>• Attribution &amp; Evidence: Engine automatically extracts driver tokens (e.g. 'debt default', 'spread widening') for risk committee auditability.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Wholesale Banking Portfolio &amp; Basel III Stress Simulation</a:t>
            </a:r>
          </a:p>
          <a:p>
            <a:pPr>
              <a:defRPr sz="1500">
                <a:solidFill>
                  <a:srgbClr val="2563EB"/>
                </a:solidFill>
              </a:defRPr>
            </a:pPr>
            <a:r>
              <a:t>Institutional-Grade Risk Modeling Over Arbitrary Percentage Cuts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600"/>
              </a:spcAft>
              <a:defRPr sz="1700">
                <a:solidFill>
                  <a:srgbClr val="334155"/>
                </a:solidFill>
              </a:defRPr>
            </a:pPr>
            <a:r>
              <a:t>• Synthetic Portfolio Exposure: ₹100 Lakhs distributed across Corporate Loans, G-Secs, Corporate Bonds, Equities, and Swaps.</a:t>
            </a:r>
          </a:p>
          <a:p>
            <a:pPr>
              <a:spcAft>
                <a:spcPts val="1600"/>
              </a:spcAft>
              <a:defRPr sz="1700">
                <a:solidFill>
                  <a:srgbClr val="334155"/>
                </a:solidFill>
              </a:defRPr>
            </a:pPr>
            <a:r>
              <a:t>• Basel III Credit Impairment: dLoss = EAD * dPD * LGD (applied at 45% standard institutional LGD).</a:t>
            </a:r>
          </a:p>
          <a:p>
            <a:pPr>
              <a:spcAft>
                <a:spcPts val="1600"/>
              </a:spcAft>
              <a:defRPr sz="1700">
                <a:solidFill>
                  <a:srgbClr val="334155"/>
                </a:solidFill>
              </a:defRPr>
            </a:pPr>
            <a:r>
              <a:t>• Modified Duration Repricing: dP = -D_mod * dy * P, accurately modeling bond price erosion under interest rate hikes.</a:t>
            </a:r>
          </a:p>
          <a:p>
            <a:pPr>
              <a:spcAft>
                <a:spcPts val="1600"/>
              </a:spcAft>
              <a:defRPr sz="1700">
                <a:solidFill>
                  <a:srgbClr val="334155"/>
                </a:solidFill>
              </a:defRPr>
            </a:pPr>
            <a:r>
              <a:t>• Regulatory Capital Impact: Evaluates Tier-1 Capital depletion and automatically flags breaches against the 11.5% minimum CRAR requirement.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Prototype Demonstration &amp; Key Evaluation Results</a:t>
            </a:r>
          </a:p>
          <a:p>
            <a:pPr>
              <a:defRPr sz="1500">
                <a:solidFill>
                  <a:srgbClr val="2563EB"/>
                </a:solidFill>
              </a:defRPr>
            </a:pPr>
            <a:r>
              <a:t>Empirical Verification Across Diverse Market 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600"/>
              </a:spcAft>
              <a:defRPr sz="1700">
                <a:solidFill>
                  <a:srgbClr val="334155"/>
                </a:solidFill>
              </a:defRPr>
            </a:pPr>
            <a:r>
              <a:t>• Credit Event Shock: Headline regarding commercial defaults triggered 9/10 impact, reducing portfolio value from ₹100L to ₹90.59L (-9.4%).</a:t>
            </a:r>
          </a:p>
          <a:p>
            <a:pPr>
              <a:spcAft>
                <a:spcPts val="1600"/>
              </a:spcAft>
              <a:defRPr sz="1700">
                <a:solidFill>
                  <a:srgbClr val="334155"/>
                </a:solidFill>
              </a:defRPr>
            </a:pPr>
            <a:r>
              <a:t>• Capital Buffer Alert: Stressed CRAR declined from 17.65% to 6.35%, automatically triggering an institutional regulatory capital alert.</a:t>
            </a:r>
          </a:p>
          <a:p>
            <a:pPr>
              <a:spcAft>
                <a:spcPts val="1600"/>
              </a:spcAft>
              <a:defRPr sz="1700">
                <a:solidFill>
                  <a:srgbClr val="334155"/>
                </a:solidFill>
              </a:defRPr>
            </a:pPr>
            <a:r>
              <a:t>• Macroeconomic Rate Shock: 75 bps surprise rate hike dynamically repriced 10Y Sovereign G-Secs based on duration (7.2y) without touching unrelated credit loans.</a:t>
            </a:r>
          </a:p>
          <a:p>
            <a:pPr>
              <a:spcAft>
                <a:spcPts val="1600"/>
              </a:spcAft>
              <a:defRPr sz="1700">
                <a:solidFill>
                  <a:srgbClr val="334155"/>
                </a:solidFill>
              </a:defRPr>
            </a:pPr>
            <a:r>
              <a:t>• False-Positive Resilience: Product launches and positive earnings retain 'NOMINAL' status without executing capital stress.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Domain Impact, Governance &amp; Production Roadmap</a:t>
            </a:r>
          </a:p>
          <a:p>
            <a:pPr>
              <a:defRPr sz="1500">
                <a:solidFill>
                  <a:srgbClr val="2563EB"/>
                </a:solidFill>
              </a:defRPr>
            </a:pPr>
            <a:r>
              <a:t>Scaling from Prototype to Enterprise Risk Management (ERM)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600"/>
              </a:spcAft>
              <a:defRPr sz="1700">
                <a:solidFill>
                  <a:srgbClr val="334155"/>
                </a:solidFill>
              </a:defRPr>
            </a:pPr>
            <a:r>
              <a:t>• Business Value: Provides chief risk officers (CROs) with dynamic, intraday scenario stress-testing rather than static quarterly reviews.</a:t>
            </a:r>
          </a:p>
          <a:p>
            <a:pPr>
              <a:spcAft>
                <a:spcPts val="1600"/>
              </a:spcAft>
              <a:defRPr sz="1700">
                <a:solidFill>
                  <a:srgbClr val="334155"/>
                </a:solidFill>
              </a:defRPr>
            </a:pPr>
            <a:r>
              <a:t>• Enterprise Integration: Built-in FastAPI endpoints ready for streaming enterprise Kafka message queues.</a:t>
            </a:r>
          </a:p>
          <a:p>
            <a:pPr>
              <a:spcAft>
                <a:spcPts val="1600"/>
              </a:spcAft>
              <a:defRPr sz="1700">
                <a:solidFill>
                  <a:srgbClr val="334155"/>
                </a:solidFill>
              </a:defRPr>
            </a:pPr>
            <a:r>
              <a:t>• Governance &amp; Regulatory Compliance: Full audit trail of extracted tokens, confidence scores, and formula breakdowns ready for regulatory examination.</a:t>
            </a:r>
          </a:p>
          <a:p>
            <a:pPr>
              <a:spcAft>
                <a:spcPts val="1600"/>
              </a:spcAft>
              <a:defRPr sz="1700">
                <a:solidFill>
                  <a:srgbClr val="334155"/>
                </a:solidFill>
              </a:defRPr>
            </a:pPr>
            <a:r>
              <a:t>• Future Roadmap: Multi-entity relationship graphs, Basel IV output floors, and real-time counterparty exposure limits.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